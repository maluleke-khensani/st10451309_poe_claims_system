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71" r:id="rId7"/>
    <p:sldId id="262" r:id="rId8"/>
    <p:sldId id="263" r:id="rId9"/>
    <p:sldId id="264" r:id="rId10"/>
    <p:sldId id="272" r:id="rId11"/>
    <p:sldId id="273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6" d="100"/>
          <a:sy n="56" d="100"/>
        </p:scale>
        <p:origin x="84" y="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E8FFF7-8961-4E0D-9FB5-A3FC38BC61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D97DDBB-F89C-4F6B-8612-47A0CD3A1A3C}">
      <dgm:prSet/>
      <dgm:spPr/>
      <dgm:t>
        <a:bodyPr/>
        <a:lstStyle/>
        <a:p>
          <a:r>
            <a:rPr lang="en-ZA"/>
            <a:t>Login -&gt; Lecturer dashboard lists claims and statuses</a:t>
          </a:r>
          <a:endParaRPr lang="en-US"/>
        </a:p>
      </dgm:t>
    </dgm:pt>
    <dgm:pt modelId="{4F5FA9DB-58C1-40A9-8E66-C5B2116ABED4}" type="parTrans" cxnId="{DD8FD509-0B89-47CF-996F-D477D77EF8D9}">
      <dgm:prSet/>
      <dgm:spPr/>
      <dgm:t>
        <a:bodyPr/>
        <a:lstStyle/>
        <a:p>
          <a:endParaRPr lang="en-US"/>
        </a:p>
      </dgm:t>
    </dgm:pt>
    <dgm:pt modelId="{33EEEC3A-49E5-4016-8E56-ACAC40F8B195}" type="sibTrans" cxnId="{DD8FD509-0B89-47CF-996F-D477D77EF8D9}">
      <dgm:prSet/>
      <dgm:spPr/>
      <dgm:t>
        <a:bodyPr/>
        <a:lstStyle/>
        <a:p>
          <a:endParaRPr lang="en-US"/>
        </a:p>
      </dgm:t>
    </dgm:pt>
    <dgm:pt modelId="{90F510E1-A442-4A1A-B5F9-06D2288A346E}">
      <dgm:prSet/>
      <dgm:spPr/>
      <dgm:t>
        <a:bodyPr/>
        <a:lstStyle/>
        <a:p>
          <a:r>
            <a:rPr lang="en-ZA"/>
            <a:t>When submitting: name/surname/hourly rate auto-populated from HR data</a:t>
          </a:r>
          <a:endParaRPr lang="en-US"/>
        </a:p>
      </dgm:t>
    </dgm:pt>
    <dgm:pt modelId="{F4AEE083-A7FA-44F2-8EAC-C185BEB6E553}" type="parTrans" cxnId="{8D327CF1-9FB7-4253-B9D1-1D60E049CF98}">
      <dgm:prSet/>
      <dgm:spPr/>
      <dgm:t>
        <a:bodyPr/>
        <a:lstStyle/>
        <a:p>
          <a:endParaRPr lang="en-US"/>
        </a:p>
      </dgm:t>
    </dgm:pt>
    <dgm:pt modelId="{BA6CC0C0-A791-4E9C-AD24-11482FE0CF91}" type="sibTrans" cxnId="{8D327CF1-9FB7-4253-B9D1-1D60E049CF98}">
      <dgm:prSet/>
      <dgm:spPr/>
      <dgm:t>
        <a:bodyPr/>
        <a:lstStyle/>
        <a:p>
          <a:endParaRPr lang="en-US"/>
        </a:p>
      </dgm:t>
    </dgm:pt>
    <dgm:pt modelId="{E80FB118-4CF6-4A68-A0B9-7376802F6E7A}">
      <dgm:prSet/>
      <dgm:spPr/>
      <dgm:t>
        <a:bodyPr/>
        <a:lstStyle/>
        <a:p>
          <a:r>
            <a:rPr lang="en-ZA"/>
            <a:t>Auto-calculation: Enter hours -&gt; system computes payable amount (hours * rate)</a:t>
          </a:r>
          <a:endParaRPr lang="en-US"/>
        </a:p>
      </dgm:t>
    </dgm:pt>
    <dgm:pt modelId="{8DF8CA51-EEB8-4734-911A-8C3BC6966194}" type="parTrans" cxnId="{E405C1E3-3BDB-49EF-A5D0-98A7A7EA4D69}">
      <dgm:prSet/>
      <dgm:spPr/>
      <dgm:t>
        <a:bodyPr/>
        <a:lstStyle/>
        <a:p>
          <a:endParaRPr lang="en-US"/>
        </a:p>
      </dgm:t>
    </dgm:pt>
    <dgm:pt modelId="{A905904E-CFD0-4384-B2DE-D061AD081349}" type="sibTrans" cxnId="{E405C1E3-3BDB-49EF-A5D0-98A7A7EA4D69}">
      <dgm:prSet/>
      <dgm:spPr/>
      <dgm:t>
        <a:bodyPr/>
        <a:lstStyle/>
        <a:p>
          <a:endParaRPr lang="en-US"/>
        </a:p>
      </dgm:t>
    </dgm:pt>
    <dgm:pt modelId="{4986C019-1B40-493D-AECE-094B95135AE2}">
      <dgm:prSet/>
      <dgm:spPr/>
      <dgm:t>
        <a:bodyPr/>
        <a:lstStyle/>
        <a:p>
          <a:r>
            <a:rPr lang="en-ZA"/>
            <a:t>Validation: reject unrealistic hours (e.g., &gt; 180 per month) with friendly error messages</a:t>
          </a:r>
          <a:endParaRPr lang="en-US"/>
        </a:p>
      </dgm:t>
    </dgm:pt>
    <dgm:pt modelId="{B9D8DF20-453B-4A58-9505-E7770D5E02E3}" type="parTrans" cxnId="{F166984F-FAB7-438F-A63D-1DF7E390A566}">
      <dgm:prSet/>
      <dgm:spPr/>
      <dgm:t>
        <a:bodyPr/>
        <a:lstStyle/>
        <a:p>
          <a:endParaRPr lang="en-US"/>
        </a:p>
      </dgm:t>
    </dgm:pt>
    <dgm:pt modelId="{72A9BC60-924E-4E67-A66A-3A1C20556CE7}" type="sibTrans" cxnId="{F166984F-FAB7-438F-A63D-1DF7E390A566}">
      <dgm:prSet/>
      <dgm:spPr/>
      <dgm:t>
        <a:bodyPr/>
        <a:lstStyle/>
        <a:p>
          <a:endParaRPr lang="en-US"/>
        </a:p>
      </dgm:t>
    </dgm:pt>
    <dgm:pt modelId="{E9805BF8-CA3B-4EDC-B384-070EFB9FBF1A}">
      <dgm:prSet/>
      <dgm:spPr/>
      <dgm:t>
        <a:bodyPr/>
        <a:lstStyle/>
        <a:p>
          <a:r>
            <a:rPr lang="en-ZA"/>
            <a:t>File upload tied to claim, limited types (.pdf, .docx, .xlsx) and size limit enforced</a:t>
          </a:r>
          <a:endParaRPr lang="en-US"/>
        </a:p>
      </dgm:t>
    </dgm:pt>
    <dgm:pt modelId="{EE0DBF7E-4A11-4F6B-897A-88BED7C89F67}" type="parTrans" cxnId="{E22CD03F-AE7E-4FD7-BB9C-4E24D9A10184}">
      <dgm:prSet/>
      <dgm:spPr/>
      <dgm:t>
        <a:bodyPr/>
        <a:lstStyle/>
        <a:p>
          <a:endParaRPr lang="en-US"/>
        </a:p>
      </dgm:t>
    </dgm:pt>
    <dgm:pt modelId="{9C82C9DC-7BFF-46DB-9377-25C3D4F692B8}" type="sibTrans" cxnId="{E22CD03F-AE7E-4FD7-BB9C-4E24D9A10184}">
      <dgm:prSet/>
      <dgm:spPr/>
      <dgm:t>
        <a:bodyPr/>
        <a:lstStyle/>
        <a:p>
          <a:endParaRPr lang="en-US"/>
        </a:p>
      </dgm:t>
    </dgm:pt>
    <dgm:pt modelId="{773C9427-E302-40F8-8D8C-4293580AFBDD}" type="pres">
      <dgm:prSet presAssocID="{A1E8FFF7-8961-4E0D-9FB5-A3FC38BC6139}" presName="linear" presStyleCnt="0">
        <dgm:presLayoutVars>
          <dgm:animLvl val="lvl"/>
          <dgm:resizeHandles val="exact"/>
        </dgm:presLayoutVars>
      </dgm:prSet>
      <dgm:spPr/>
    </dgm:pt>
    <dgm:pt modelId="{D66B6E8E-8583-4C3E-B411-794AA7BB9A00}" type="pres">
      <dgm:prSet presAssocID="{6D97DDBB-F89C-4F6B-8612-47A0CD3A1A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3C6BDA4-A542-42E3-997E-E85ABDE00FCC}" type="pres">
      <dgm:prSet presAssocID="{33EEEC3A-49E5-4016-8E56-ACAC40F8B195}" presName="spacer" presStyleCnt="0"/>
      <dgm:spPr/>
    </dgm:pt>
    <dgm:pt modelId="{01B96C07-8D55-4D7F-9D65-A2F7292E837D}" type="pres">
      <dgm:prSet presAssocID="{90F510E1-A442-4A1A-B5F9-06D2288A346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D28FE60-80EE-439D-9855-B479F83C6506}" type="pres">
      <dgm:prSet presAssocID="{BA6CC0C0-A791-4E9C-AD24-11482FE0CF91}" presName="spacer" presStyleCnt="0"/>
      <dgm:spPr/>
    </dgm:pt>
    <dgm:pt modelId="{E14DE50D-3329-4C2C-A4AF-14A9358758C0}" type="pres">
      <dgm:prSet presAssocID="{E80FB118-4CF6-4A68-A0B9-7376802F6E7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C2F21D5-CD56-4508-AB21-057D65B018E4}" type="pres">
      <dgm:prSet presAssocID="{A905904E-CFD0-4384-B2DE-D061AD081349}" presName="spacer" presStyleCnt="0"/>
      <dgm:spPr/>
    </dgm:pt>
    <dgm:pt modelId="{C1E75ACF-2511-4C77-96F8-9AB225BDE8BC}" type="pres">
      <dgm:prSet presAssocID="{4986C019-1B40-493D-AECE-094B95135AE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7C32498-0F5C-4468-A0C9-31A5060B4E76}" type="pres">
      <dgm:prSet presAssocID="{72A9BC60-924E-4E67-A66A-3A1C20556CE7}" presName="spacer" presStyleCnt="0"/>
      <dgm:spPr/>
    </dgm:pt>
    <dgm:pt modelId="{B10C7EA7-BB51-4E45-A1DD-B60AA25B564B}" type="pres">
      <dgm:prSet presAssocID="{E9805BF8-CA3B-4EDC-B384-070EFB9FBF1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BF7FE02-6310-4961-A9F3-E3CB794952CD}" type="presOf" srcId="{90F510E1-A442-4A1A-B5F9-06D2288A346E}" destId="{01B96C07-8D55-4D7F-9D65-A2F7292E837D}" srcOrd="0" destOrd="0" presId="urn:microsoft.com/office/officeart/2005/8/layout/vList2"/>
    <dgm:cxn modelId="{DD8FD509-0B89-47CF-996F-D477D77EF8D9}" srcId="{A1E8FFF7-8961-4E0D-9FB5-A3FC38BC6139}" destId="{6D97DDBB-F89C-4F6B-8612-47A0CD3A1A3C}" srcOrd="0" destOrd="0" parTransId="{4F5FA9DB-58C1-40A9-8E66-C5B2116ABED4}" sibTransId="{33EEEC3A-49E5-4016-8E56-ACAC40F8B195}"/>
    <dgm:cxn modelId="{AFAD743E-E067-438E-A482-D3C977C2DA54}" type="presOf" srcId="{6D97DDBB-F89C-4F6B-8612-47A0CD3A1A3C}" destId="{D66B6E8E-8583-4C3E-B411-794AA7BB9A00}" srcOrd="0" destOrd="0" presId="urn:microsoft.com/office/officeart/2005/8/layout/vList2"/>
    <dgm:cxn modelId="{E22CD03F-AE7E-4FD7-BB9C-4E24D9A10184}" srcId="{A1E8FFF7-8961-4E0D-9FB5-A3FC38BC6139}" destId="{E9805BF8-CA3B-4EDC-B384-070EFB9FBF1A}" srcOrd="4" destOrd="0" parTransId="{EE0DBF7E-4A11-4F6B-897A-88BED7C89F67}" sibTransId="{9C82C9DC-7BFF-46DB-9377-25C3D4F692B8}"/>
    <dgm:cxn modelId="{3EAE8A67-FEE0-4F3C-9337-1D07DDB2A481}" type="presOf" srcId="{E80FB118-4CF6-4A68-A0B9-7376802F6E7A}" destId="{E14DE50D-3329-4C2C-A4AF-14A9358758C0}" srcOrd="0" destOrd="0" presId="urn:microsoft.com/office/officeart/2005/8/layout/vList2"/>
    <dgm:cxn modelId="{F166984F-FAB7-438F-A63D-1DF7E390A566}" srcId="{A1E8FFF7-8961-4E0D-9FB5-A3FC38BC6139}" destId="{4986C019-1B40-493D-AECE-094B95135AE2}" srcOrd="3" destOrd="0" parTransId="{B9D8DF20-453B-4A58-9505-E7770D5E02E3}" sibTransId="{72A9BC60-924E-4E67-A66A-3A1C20556CE7}"/>
    <dgm:cxn modelId="{BE810059-DDB0-4E27-B434-03B953D076EB}" type="presOf" srcId="{A1E8FFF7-8961-4E0D-9FB5-A3FC38BC6139}" destId="{773C9427-E302-40F8-8D8C-4293580AFBDD}" srcOrd="0" destOrd="0" presId="urn:microsoft.com/office/officeart/2005/8/layout/vList2"/>
    <dgm:cxn modelId="{5431E2CD-75C0-453F-A9EA-23434C468379}" type="presOf" srcId="{4986C019-1B40-493D-AECE-094B95135AE2}" destId="{C1E75ACF-2511-4C77-96F8-9AB225BDE8BC}" srcOrd="0" destOrd="0" presId="urn:microsoft.com/office/officeart/2005/8/layout/vList2"/>
    <dgm:cxn modelId="{E405C1E3-3BDB-49EF-A5D0-98A7A7EA4D69}" srcId="{A1E8FFF7-8961-4E0D-9FB5-A3FC38BC6139}" destId="{E80FB118-4CF6-4A68-A0B9-7376802F6E7A}" srcOrd="2" destOrd="0" parTransId="{8DF8CA51-EEB8-4734-911A-8C3BC6966194}" sibTransId="{A905904E-CFD0-4384-B2DE-D061AD081349}"/>
    <dgm:cxn modelId="{8D327CF1-9FB7-4253-B9D1-1D60E049CF98}" srcId="{A1E8FFF7-8961-4E0D-9FB5-A3FC38BC6139}" destId="{90F510E1-A442-4A1A-B5F9-06D2288A346E}" srcOrd="1" destOrd="0" parTransId="{F4AEE083-A7FA-44F2-8EAC-C185BEB6E553}" sibTransId="{BA6CC0C0-A791-4E9C-AD24-11482FE0CF91}"/>
    <dgm:cxn modelId="{8E82E7FF-8228-4E83-86D5-80A6802DCFC8}" type="presOf" srcId="{E9805BF8-CA3B-4EDC-B384-070EFB9FBF1A}" destId="{B10C7EA7-BB51-4E45-A1DD-B60AA25B564B}" srcOrd="0" destOrd="0" presId="urn:microsoft.com/office/officeart/2005/8/layout/vList2"/>
    <dgm:cxn modelId="{26A21EC0-3F95-4360-A141-077A81C8D4E8}" type="presParOf" srcId="{773C9427-E302-40F8-8D8C-4293580AFBDD}" destId="{D66B6E8E-8583-4C3E-B411-794AA7BB9A00}" srcOrd="0" destOrd="0" presId="urn:microsoft.com/office/officeart/2005/8/layout/vList2"/>
    <dgm:cxn modelId="{A38206AF-EA5A-41BB-A58D-44557C15EF19}" type="presParOf" srcId="{773C9427-E302-40F8-8D8C-4293580AFBDD}" destId="{33C6BDA4-A542-42E3-997E-E85ABDE00FCC}" srcOrd="1" destOrd="0" presId="urn:microsoft.com/office/officeart/2005/8/layout/vList2"/>
    <dgm:cxn modelId="{6794AA23-1A0F-4A78-9B86-F0EDC3AF6F43}" type="presParOf" srcId="{773C9427-E302-40F8-8D8C-4293580AFBDD}" destId="{01B96C07-8D55-4D7F-9D65-A2F7292E837D}" srcOrd="2" destOrd="0" presId="urn:microsoft.com/office/officeart/2005/8/layout/vList2"/>
    <dgm:cxn modelId="{E44FA83D-5254-4D60-941B-B77BA0D874F7}" type="presParOf" srcId="{773C9427-E302-40F8-8D8C-4293580AFBDD}" destId="{FD28FE60-80EE-439D-9855-B479F83C6506}" srcOrd="3" destOrd="0" presId="urn:microsoft.com/office/officeart/2005/8/layout/vList2"/>
    <dgm:cxn modelId="{DE056AE1-74D1-4821-BDEE-29FC19420A48}" type="presParOf" srcId="{773C9427-E302-40F8-8D8C-4293580AFBDD}" destId="{E14DE50D-3329-4C2C-A4AF-14A9358758C0}" srcOrd="4" destOrd="0" presId="urn:microsoft.com/office/officeart/2005/8/layout/vList2"/>
    <dgm:cxn modelId="{7209DCEA-4E67-4CA2-BF8B-E512E6DC1475}" type="presParOf" srcId="{773C9427-E302-40F8-8D8C-4293580AFBDD}" destId="{5C2F21D5-CD56-4508-AB21-057D65B018E4}" srcOrd="5" destOrd="0" presId="urn:microsoft.com/office/officeart/2005/8/layout/vList2"/>
    <dgm:cxn modelId="{0573E915-08FE-415E-93E8-12EE5033C693}" type="presParOf" srcId="{773C9427-E302-40F8-8D8C-4293580AFBDD}" destId="{C1E75ACF-2511-4C77-96F8-9AB225BDE8BC}" srcOrd="6" destOrd="0" presId="urn:microsoft.com/office/officeart/2005/8/layout/vList2"/>
    <dgm:cxn modelId="{98C5200A-3BCE-4148-947F-9B366D97C113}" type="presParOf" srcId="{773C9427-E302-40F8-8D8C-4293580AFBDD}" destId="{67C32498-0F5C-4468-A0C9-31A5060B4E76}" srcOrd="7" destOrd="0" presId="urn:microsoft.com/office/officeart/2005/8/layout/vList2"/>
    <dgm:cxn modelId="{3FB169E9-A9AE-4584-86DA-5C8E404AE6C5}" type="presParOf" srcId="{773C9427-E302-40F8-8D8C-4293580AFBDD}" destId="{B10C7EA7-BB51-4E45-A1DD-B60AA25B564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B6E8E-8583-4C3E-B411-794AA7BB9A00}">
      <dsp:nvSpPr>
        <dsp:cNvPr id="0" name=""/>
        <dsp:cNvSpPr/>
      </dsp:nvSpPr>
      <dsp:spPr>
        <a:xfrm>
          <a:off x="0" y="11324"/>
          <a:ext cx="5548912" cy="646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/>
            <a:t>Login -&gt; Lecturer dashboard lists claims and statuses</a:t>
          </a:r>
          <a:endParaRPr lang="en-US" sz="1700" kern="1200"/>
        </a:p>
      </dsp:txBody>
      <dsp:txXfrm>
        <a:off x="31556" y="42880"/>
        <a:ext cx="5485800" cy="583313"/>
      </dsp:txXfrm>
    </dsp:sp>
    <dsp:sp modelId="{01B96C07-8D55-4D7F-9D65-A2F7292E837D}">
      <dsp:nvSpPr>
        <dsp:cNvPr id="0" name=""/>
        <dsp:cNvSpPr/>
      </dsp:nvSpPr>
      <dsp:spPr>
        <a:xfrm>
          <a:off x="0" y="706709"/>
          <a:ext cx="5548912" cy="646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/>
            <a:t>When submitting: name/surname/hourly rate auto-populated from HR data</a:t>
          </a:r>
          <a:endParaRPr lang="en-US" sz="1700" kern="1200"/>
        </a:p>
      </dsp:txBody>
      <dsp:txXfrm>
        <a:off x="31556" y="738265"/>
        <a:ext cx="5485800" cy="583313"/>
      </dsp:txXfrm>
    </dsp:sp>
    <dsp:sp modelId="{E14DE50D-3329-4C2C-A4AF-14A9358758C0}">
      <dsp:nvSpPr>
        <dsp:cNvPr id="0" name=""/>
        <dsp:cNvSpPr/>
      </dsp:nvSpPr>
      <dsp:spPr>
        <a:xfrm>
          <a:off x="0" y="1402094"/>
          <a:ext cx="5548912" cy="646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/>
            <a:t>Auto-calculation: Enter hours -&gt; system computes payable amount (hours * rate)</a:t>
          </a:r>
          <a:endParaRPr lang="en-US" sz="1700" kern="1200"/>
        </a:p>
      </dsp:txBody>
      <dsp:txXfrm>
        <a:off x="31556" y="1433650"/>
        <a:ext cx="5485800" cy="583313"/>
      </dsp:txXfrm>
    </dsp:sp>
    <dsp:sp modelId="{C1E75ACF-2511-4C77-96F8-9AB225BDE8BC}">
      <dsp:nvSpPr>
        <dsp:cNvPr id="0" name=""/>
        <dsp:cNvSpPr/>
      </dsp:nvSpPr>
      <dsp:spPr>
        <a:xfrm>
          <a:off x="0" y="2097479"/>
          <a:ext cx="5548912" cy="646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/>
            <a:t>Validation: reject unrealistic hours (e.g., &gt; 180 per month) with friendly error messages</a:t>
          </a:r>
          <a:endParaRPr lang="en-US" sz="1700" kern="1200"/>
        </a:p>
      </dsp:txBody>
      <dsp:txXfrm>
        <a:off x="31556" y="2129035"/>
        <a:ext cx="5485800" cy="583313"/>
      </dsp:txXfrm>
    </dsp:sp>
    <dsp:sp modelId="{B10C7EA7-BB51-4E45-A1DD-B60AA25B564B}">
      <dsp:nvSpPr>
        <dsp:cNvPr id="0" name=""/>
        <dsp:cNvSpPr/>
      </dsp:nvSpPr>
      <dsp:spPr>
        <a:xfrm>
          <a:off x="0" y="2792864"/>
          <a:ext cx="5548912" cy="646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/>
            <a:t>File upload tied to claim, limited types (.pdf, .docx, .xlsx) and size limit enforced</a:t>
          </a:r>
          <a:endParaRPr lang="en-US" sz="1700" kern="1200"/>
        </a:p>
      </dsp:txBody>
      <dsp:txXfrm>
        <a:off x="31556" y="2824420"/>
        <a:ext cx="5485800" cy="583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82A6A-3F26-4C0B-B0D3-CB5834169986}" type="datetimeFigureOut">
              <a:rPr lang="en-ZA" smtClean="0"/>
              <a:t>2025/11/19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84DFA-8E27-4DC6-9DE5-118C201D836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7761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84DFA-8E27-4DC6-9DE5-118C201D8366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6928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orient the examiner. Keep it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briefly how each change improves usability.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how HR is the single source of truth for lecturer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how auto-fill + auto-calc reduces errors and speeds up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two-step approval flow and how state updates propagate to lecturer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the live demo, show the controller method for prefill and the upload helper.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unit tests that verify core validation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150" y="802299"/>
            <a:ext cx="8634824" cy="2541431"/>
          </a:xfrm>
        </p:spPr>
        <p:txBody>
          <a:bodyPr bIns="0" anchor="b">
            <a:normAutofit/>
          </a:bodyPr>
          <a:lstStyle>
            <a:lvl1pPr algn="l">
              <a:defRPr sz="6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150" y="3531205"/>
            <a:ext cx="8634823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799" b="0" cap="all" baseline="0">
                <a:solidFill>
                  <a:schemeClr val="tx1"/>
                </a:solidFill>
              </a:defRPr>
            </a:lvl1pPr>
            <a:lvl2pPr marL="457063" indent="0" algn="ctr">
              <a:buNone/>
              <a:defRPr sz="17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5871" y="329308"/>
            <a:ext cx="497262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290" y="798973"/>
            <a:ext cx="810808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150" y="3528542"/>
            <a:ext cx="86348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5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85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860" y="1756130"/>
            <a:ext cx="8640903" cy="1887950"/>
          </a:xfrm>
        </p:spPr>
        <p:txBody>
          <a:bodyPr anchor="b">
            <a:normAutofit/>
          </a:bodyPr>
          <a:lstStyle>
            <a:lvl1pPr algn="l"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3861" y="3806196"/>
            <a:ext cx="8628198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3861" y="3804985"/>
            <a:ext cx="862819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21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840" y="804890"/>
            <a:ext cx="9603134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6954" y="2010879"/>
            <a:ext cx="464394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2101" y="2017343"/>
            <a:ext cx="464394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96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815" y="804164"/>
            <a:ext cx="9605159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814" y="2019550"/>
            <a:ext cx="464394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6814" y="2824270"/>
            <a:ext cx="464394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0692" y="2023004"/>
            <a:ext cx="464394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0692" y="2821491"/>
            <a:ext cx="464394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93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228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9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295" y="798973"/>
            <a:ext cx="3272247" cy="2247117"/>
          </a:xfrm>
        </p:spPr>
        <p:txBody>
          <a:bodyPr anchor="b">
            <a:normAutofit/>
          </a:bodyPr>
          <a:lstStyle>
            <a:lvl1pPr algn="l">
              <a:defRPr sz="2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2401" y="798974"/>
            <a:ext cx="6010904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295" y="3205492"/>
            <a:ext cx="3274160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7903" y="3205491"/>
            <a:ext cx="32686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0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5440" y="482171"/>
            <a:ext cx="4073472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828" y="1129513"/>
            <a:ext cx="5530887" cy="1830584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2274" y="1122543"/>
            <a:ext cx="2790444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9951" y="3145992"/>
            <a:ext cx="5522965" cy="2003742"/>
          </a:xfrm>
        </p:spPr>
        <p:txBody>
          <a:bodyPr>
            <a:normAutofit/>
          </a:bodyPr>
          <a:lstStyle>
            <a:lvl1pPr marL="0" indent="0" algn="l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005" y="5469857"/>
            <a:ext cx="5525912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005" y="318641"/>
            <a:ext cx="5539561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005" y="3143605"/>
            <a:ext cx="55259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19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45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6653" y="798974"/>
            <a:ext cx="1615321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296" y="798974"/>
            <a:ext cx="7826791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6653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447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7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202" y="2015733"/>
            <a:ext cx="9600774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935" y="798973"/>
            <a:ext cx="810808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799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61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199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99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799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71113-ED1E-4689-96FF-620B29035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6973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8126" y="802298"/>
            <a:ext cx="2717103" cy="5116985"/>
          </a:xfrm>
        </p:spPr>
        <p:txBody>
          <a:bodyPr anchor="ctr">
            <a:normAutofit/>
          </a:bodyPr>
          <a:lstStyle/>
          <a:p>
            <a:pPr algn="r"/>
            <a:r>
              <a:rPr lang="en-US" sz="2000" dirty="0">
                <a:solidFill>
                  <a:srgbClr val="FFFFFF"/>
                </a:solidFill>
              </a:rPr>
              <a:t>PROG6212 — Visual walkthrough of implemented requirements</a:t>
            </a:r>
          </a:p>
          <a:p>
            <a:pPr algn="r"/>
            <a:r>
              <a:rPr lang="en-US" sz="2000" dirty="0">
                <a:solidFill>
                  <a:srgbClr val="FFFFFF"/>
                </a:solidFill>
              </a:rPr>
              <a:t>Khensani Maluleke</a:t>
            </a:r>
          </a:p>
          <a:p>
            <a:pPr algn="r"/>
            <a:r>
              <a:rPr lang="en-US" sz="2000" dirty="0">
                <a:solidFill>
                  <a:srgbClr val="FFFFFF"/>
                </a:solidFill>
              </a:rPr>
              <a:t>ST10451309</a:t>
            </a: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252525-B2F1-43A9-8DDF-5F476C86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9733" y="0"/>
            <a:ext cx="81190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8781" y="802298"/>
            <a:ext cx="6383192" cy="5116985"/>
          </a:xfrm>
        </p:spPr>
        <p:txBody>
          <a:bodyPr anchor="ctr">
            <a:normAutofit/>
          </a:bodyPr>
          <a:lstStyle/>
          <a:p>
            <a:r>
              <a:rPr lang="en-US" sz="5900"/>
              <a:t>Claims System — Part 3: Updates &amp; Key Features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D6759D70-A0C6-5E36-D714-9ED72F79F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57" r="9090" b="12011"/>
          <a:stretch>
            <a:fillRect/>
          </a:stretch>
        </p:blipFill>
        <p:spPr>
          <a:xfrm>
            <a:off x="1" y="10"/>
            <a:ext cx="12188521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2AF0D79-4A1A-4F27-B9F0-CF252C4AC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7" y="636753"/>
            <a:ext cx="8297273" cy="5572810"/>
          </a:xfrm>
          <a:prstGeom prst="rect">
            <a:avLst/>
          </a:prstGeom>
          <a:solidFill>
            <a:srgbClr val="000001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677" y="804520"/>
            <a:ext cx="6813956" cy="1049235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rgbClr val="FFFFFE"/>
                </a:solidFill>
              </a:rPr>
              <a:t>What you'll see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83266B-97F8-4AB9-818F-3A70E8D85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6044" y="1847088"/>
            <a:ext cx="6811589" cy="0"/>
          </a:xfrm>
          <a:prstGeom prst="line">
            <a:avLst/>
          </a:prstGeom>
          <a:ln w="31750">
            <a:solidFill>
              <a:srgbClr val="03D4E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3677" y="2015733"/>
            <a:ext cx="6813956" cy="4021267"/>
          </a:xfrm>
        </p:spPr>
        <p:txBody>
          <a:bodyPr>
            <a:normAutofit/>
          </a:bodyPr>
          <a:lstStyle/>
          <a:p>
            <a:pPr>
              <a:buClr>
                <a:srgbClr val="03D4EF"/>
              </a:buClr>
            </a:pPr>
            <a:r>
              <a:rPr lang="en-US" dirty="0">
                <a:solidFill>
                  <a:srgbClr val="FFFFFE"/>
                </a:solidFill>
              </a:rPr>
              <a:t>1. Summary of lecturer feedback &amp; how I addressed it</a:t>
            </a:r>
          </a:p>
          <a:p>
            <a:pPr>
              <a:buClr>
                <a:srgbClr val="03D4EF"/>
              </a:buClr>
            </a:pPr>
            <a:r>
              <a:rPr lang="en-US" dirty="0">
                <a:solidFill>
                  <a:srgbClr val="FFFFFE"/>
                </a:solidFill>
              </a:rPr>
              <a:t>2. Key features implemented (HR, Lecturer, Coordinator, Manager)</a:t>
            </a:r>
          </a:p>
          <a:p>
            <a:pPr>
              <a:buClr>
                <a:srgbClr val="03D4EF"/>
              </a:buClr>
            </a:pPr>
            <a:r>
              <a:rPr lang="en-US" dirty="0">
                <a:solidFill>
                  <a:srgbClr val="FFFFFE"/>
                </a:solidFill>
              </a:rPr>
              <a:t>3. Design &amp; UX decisions (screenshots placeholders)</a:t>
            </a:r>
          </a:p>
          <a:p>
            <a:pPr>
              <a:buClr>
                <a:srgbClr val="03D4EF"/>
              </a:buClr>
            </a:pPr>
            <a:r>
              <a:rPr lang="en-US" dirty="0">
                <a:solidFill>
                  <a:srgbClr val="FFFFFE"/>
                </a:solidFill>
              </a:rPr>
              <a:t>4. Important code snippets &amp; explanations (only key parts)</a:t>
            </a:r>
          </a:p>
          <a:p>
            <a:pPr>
              <a:buClr>
                <a:srgbClr val="03D4EF"/>
              </a:buClr>
            </a:pPr>
            <a:endParaRPr lang="en-US" dirty="0">
              <a:solidFill>
                <a:srgbClr val="FFFFF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ED2B910-B28F-4A54-B17C-8B7E5893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52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45F118-1DF8-46A9-8A77-B3D9422CE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7421" y="1847088"/>
            <a:ext cx="55465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5103" y="804519"/>
            <a:ext cx="5548912" cy="1049235"/>
          </a:xfrm>
        </p:spPr>
        <p:txBody>
          <a:bodyPr>
            <a:normAutofit/>
          </a:bodyPr>
          <a:lstStyle/>
          <a:p>
            <a:r>
              <a:rPr lang="en-US" sz="2200" dirty="0"/>
              <a:t>Updates from Lecturer Feedback — Make it more user friendly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AB7D27-148D-4082-B160-72FAD580D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4306E7-45C5-6496-2279-E395EF647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85" y="668057"/>
            <a:ext cx="4967134" cy="1974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8FAE81-3694-D8F7-1B8E-C67D76757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74" y="3202560"/>
            <a:ext cx="4073775" cy="236278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5103" y="2015732"/>
            <a:ext cx="5548912" cy="345061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Simplified forms and labels — fewer fields, clearer helpers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Prefill fields (name, surname, hourly rate) from HR data when lecturer logs in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Progress indicators for claim status (text label + progress bar placeholder)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Improved upload flow: file validation, size/type limits, and clearer error messages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Added sessions and role-based access to prevent unauthorized pages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My Lecturer Dashboard in part 2 lacked a navigation system- updated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88FC76-F691-462A-BCF9-0BA4F5DE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3204A7E-B7E9-42D0-9DC4-B82FDC8C4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39F70F-9FD5-B22C-50C2-A355C3E309C2}"/>
              </a:ext>
            </a:extLst>
          </p:cNvPr>
          <p:cNvSpPr txBox="1"/>
          <p:nvPr/>
        </p:nvSpPr>
        <p:spPr>
          <a:xfrm>
            <a:off x="1405890" y="298725"/>
            <a:ext cx="229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Lecturer dashboard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52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1" y="804519"/>
            <a:ext cx="4323986" cy="1049235"/>
          </a:xfrm>
        </p:spPr>
        <p:txBody>
          <a:bodyPr>
            <a:normAutofit/>
          </a:bodyPr>
          <a:lstStyle/>
          <a:p>
            <a:r>
              <a:rPr lang="en-US" sz="2800" dirty="0"/>
              <a:t>HR (Super User) — Key Capabilities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200" y="1853754"/>
            <a:ext cx="43239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88825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200" y="2015732"/>
            <a:ext cx="4323987" cy="407417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ZA" sz="1400" dirty="0"/>
              <a:t>Create user profiles (name, surname, email, hourly rate, role)</a:t>
            </a:r>
          </a:p>
          <a:p>
            <a:pPr lvl="1">
              <a:lnSpc>
                <a:spcPct val="110000"/>
              </a:lnSpc>
            </a:pPr>
            <a:r>
              <a:rPr lang="en-ZA" sz="1400" dirty="0"/>
              <a:t> “await _</a:t>
            </a:r>
            <a:r>
              <a:rPr lang="en-ZA" sz="1400" dirty="0" err="1"/>
              <a:t>userManager.AddToRoleAsync</a:t>
            </a:r>
            <a:r>
              <a:rPr lang="en-ZA" sz="1400" dirty="0"/>
              <a:t>(user, role)”- added the newly created use to </a:t>
            </a:r>
            <a:r>
              <a:rPr lang="en-ZA" sz="1400" dirty="0" err="1"/>
              <a:t>th</a:t>
            </a:r>
            <a:r>
              <a:rPr lang="en-ZA" sz="1400" dirty="0"/>
              <a:t> </a:t>
            </a:r>
            <a:r>
              <a:rPr lang="en-ZA" sz="1400" dirty="0" err="1"/>
              <a:t>NetRole</a:t>
            </a:r>
            <a:r>
              <a:rPr lang="en-ZA" sz="1400" dirty="0"/>
              <a:t> table </a:t>
            </a:r>
          </a:p>
          <a:p>
            <a:pPr lvl="1">
              <a:lnSpc>
                <a:spcPct val="110000"/>
              </a:lnSpc>
            </a:pPr>
            <a:r>
              <a:rPr lang="en-ZA" sz="1400" dirty="0"/>
              <a:t>“_</a:t>
            </a:r>
            <a:r>
              <a:rPr lang="en-ZA" sz="1400" dirty="0" err="1"/>
              <a:t>context.LecturerProfiles.Add</a:t>
            </a:r>
            <a:r>
              <a:rPr lang="en-ZA" sz="1400" dirty="0"/>
              <a:t>(profile);”Only  Lecturer users get added to the </a:t>
            </a:r>
            <a:r>
              <a:rPr lang="en-ZA" sz="1400" dirty="0" err="1"/>
              <a:t>LecturerProfile</a:t>
            </a:r>
            <a:r>
              <a:rPr lang="en-ZA" sz="1400" dirty="0"/>
              <a:t> table</a:t>
            </a:r>
          </a:p>
          <a:p>
            <a:pPr>
              <a:lnSpc>
                <a:spcPct val="110000"/>
              </a:lnSpc>
            </a:pPr>
            <a:r>
              <a:rPr lang="en-ZA" sz="1400" dirty="0"/>
              <a:t>Update any user information (edit form + audit-friendly fields)</a:t>
            </a:r>
          </a:p>
          <a:p>
            <a:pPr>
              <a:lnSpc>
                <a:spcPct val="110000"/>
              </a:lnSpc>
            </a:pPr>
            <a:r>
              <a:rPr lang="en-ZA" sz="1400" dirty="0"/>
              <a:t>Generate reports / invoices via LINQ queries; PDF export available</a:t>
            </a:r>
          </a:p>
          <a:p>
            <a:pPr>
              <a:lnSpc>
                <a:spcPct val="110000"/>
              </a:lnSpc>
            </a:pPr>
            <a:r>
              <a:rPr lang="en-ZA" sz="1400" dirty="0"/>
              <a:t>No public registration — HR provisions accounts and credentials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84298B-1185-4242-275D-AC9C54FDB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61" y="1610232"/>
            <a:ext cx="4635912" cy="367395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21FBA4-25A2-1136-249C-6BF4194B83FE}"/>
              </a:ext>
            </a:extLst>
          </p:cNvPr>
          <p:cNvCxnSpPr/>
          <p:nvPr/>
        </p:nvCxnSpPr>
        <p:spPr>
          <a:xfrm flipH="1">
            <a:off x="9818370" y="5063490"/>
            <a:ext cx="16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EAD966-ECD9-D489-E900-EEDE9F055A2D}"/>
              </a:ext>
            </a:extLst>
          </p:cNvPr>
          <p:cNvCxnSpPr/>
          <p:nvPr/>
        </p:nvCxnSpPr>
        <p:spPr>
          <a:xfrm flipH="1">
            <a:off x="10049943" y="3158490"/>
            <a:ext cx="16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52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518" y="1847088"/>
            <a:ext cx="55465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0" y="804519"/>
            <a:ext cx="5548912" cy="1049235"/>
          </a:xfrm>
        </p:spPr>
        <p:txBody>
          <a:bodyPr>
            <a:normAutofit/>
          </a:bodyPr>
          <a:lstStyle/>
          <a:p>
            <a:r>
              <a:rPr dirty="0"/>
              <a:t>Lecturer View — Workflow &amp; UX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B4D31239-2C26-60CE-0418-19B352FF3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9440003"/>
              </p:ext>
            </p:extLst>
          </p:nvPr>
        </p:nvGraphicFramePr>
        <p:xfrm>
          <a:off x="1451200" y="2015732"/>
          <a:ext cx="5548912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6A49F43-0AE1-5F13-7951-DBDA305A1E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8240" y="3034443"/>
            <a:ext cx="5387661" cy="2168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E1BD41-E01E-2241-E1FC-3A588A7CF4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9658" y="128520"/>
            <a:ext cx="4073775" cy="15200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F5B06B4-320B-C454-B29C-424E29843E35}"/>
              </a:ext>
            </a:extLst>
          </p:cNvPr>
          <p:cNvSpPr txBox="1"/>
          <p:nvPr/>
        </p:nvSpPr>
        <p:spPr>
          <a:xfrm>
            <a:off x="8451311" y="1731128"/>
            <a:ext cx="2731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Insured auto calculation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1AAD52-C2CA-E7F4-38EA-FE5FF6175147}"/>
              </a:ext>
            </a:extLst>
          </p:cNvPr>
          <p:cNvSpPr txBox="1"/>
          <p:nvPr/>
        </p:nvSpPr>
        <p:spPr>
          <a:xfrm>
            <a:off x="8178148" y="2607943"/>
            <a:ext cx="3270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Claim form (Lecturer’s View 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5E42E1-5DCC-C441-4A72-91DEF9A49364}"/>
              </a:ext>
            </a:extLst>
          </p:cNvPr>
          <p:cNvCxnSpPr>
            <a:cxnSpLocks/>
          </p:cNvCxnSpPr>
          <p:nvPr/>
        </p:nvCxnSpPr>
        <p:spPr>
          <a:xfrm flipV="1">
            <a:off x="8561070" y="5166533"/>
            <a:ext cx="0" cy="599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613FB4-B196-1BFA-26E9-439BC157DD2D}"/>
              </a:ext>
            </a:extLst>
          </p:cNvPr>
          <p:cNvCxnSpPr>
            <a:cxnSpLocks/>
          </p:cNvCxnSpPr>
          <p:nvPr/>
        </p:nvCxnSpPr>
        <p:spPr>
          <a:xfrm flipV="1">
            <a:off x="11319510" y="4978359"/>
            <a:ext cx="0" cy="599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ED2B910-B28F-4A54-B17C-8B7E5893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52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45F118-1DF8-46A9-8A77-B3D9422CE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7421" y="1847088"/>
            <a:ext cx="55465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E78DB2F-2569-3252-8F74-C726A1F4B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3" y="804519"/>
            <a:ext cx="5548912" cy="1049235"/>
          </a:xfrm>
        </p:spPr>
        <p:txBody>
          <a:bodyPr>
            <a:normAutofit/>
          </a:bodyPr>
          <a:lstStyle/>
          <a:p>
            <a:r>
              <a:rPr lang="en-ZA" dirty="0"/>
              <a:t>Lecturer Panel and claims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AB7D27-148D-4082-B160-72FAD580D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7C9276-F578-E672-70D1-33FE5B66C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13" y="2623747"/>
            <a:ext cx="5379888" cy="1856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0F114-3455-50B6-C3DC-E586AA9B0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61" y="408908"/>
            <a:ext cx="3118522" cy="17619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1FB72-96A2-2578-8123-E7649CA18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9775" y="1956695"/>
            <a:ext cx="5548912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ZA" sz="1400" dirty="0"/>
              <a:t>Panel includes:</a:t>
            </a:r>
          </a:p>
          <a:p>
            <a:pPr lvl="1">
              <a:lnSpc>
                <a:spcPct val="110000"/>
              </a:lnSpc>
            </a:pPr>
            <a:r>
              <a:rPr lang="en-ZA" sz="1400" dirty="0"/>
              <a:t>Lecturer Profile so view email, name and hourly Rate</a:t>
            </a:r>
          </a:p>
          <a:p>
            <a:pPr lvl="1">
              <a:lnSpc>
                <a:spcPct val="110000"/>
              </a:lnSpc>
            </a:pPr>
            <a:r>
              <a:rPr lang="en-ZA" sz="1400" dirty="0"/>
              <a:t>Report consist of a downloadable report of all claims summed up with a grand total.	</a:t>
            </a:r>
          </a:p>
          <a:p>
            <a:pPr lvl="2">
              <a:lnSpc>
                <a:spcPct val="110000"/>
              </a:lnSpc>
            </a:pPr>
            <a:r>
              <a:rPr lang="en-ZA" sz="1400" dirty="0"/>
              <a:t>Used LINQ to create downloadable pdf, in result it create a auto generated report.</a:t>
            </a:r>
          </a:p>
          <a:p>
            <a:pPr lvl="2">
              <a:lnSpc>
                <a:spcPct val="110000"/>
              </a:lnSpc>
            </a:pPr>
            <a:r>
              <a:rPr lang="en-ZA" sz="1400" dirty="0"/>
              <a:t>I manually wrote to the pdf, and create a templet for when a Report is requested</a:t>
            </a:r>
          </a:p>
          <a:p>
            <a:pPr lvl="1">
              <a:lnSpc>
                <a:spcPct val="110000"/>
              </a:lnSpc>
            </a:pPr>
            <a:endParaRPr lang="en-ZA" sz="1400" dirty="0"/>
          </a:p>
          <a:p>
            <a:pPr>
              <a:lnSpc>
                <a:spcPct val="110000"/>
              </a:lnSpc>
            </a:pPr>
            <a:r>
              <a:rPr lang="en-ZA" sz="1400" dirty="0"/>
              <a:t>List of all lecturer claims with status of both Manager and Coordinator</a:t>
            </a:r>
          </a:p>
          <a:p>
            <a:pPr lvl="1">
              <a:lnSpc>
                <a:spcPct val="110000"/>
              </a:lnSpc>
            </a:pPr>
            <a:r>
              <a:rPr lang="en-ZA" sz="1400" dirty="0"/>
              <a:t>Option to View claim, Delete claim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88FC76-F691-462A-BCF9-0BA4F5DE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204A7E-B7E9-42D0-9DC4-B82FDC8C4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6C4E4B-B7EE-4F07-E89B-16DCD030879B}"/>
              </a:ext>
            </a:extLst>
          </p:cNvPr>
          <p:cNvSpPr txBox="1"/>
          <p:nvPr/>
        </p:nvSpPr>
        <p:spPr>
          <a:xfrm>
            <a:off x="925829" y="4525528"/>
            <a:ext cx="2887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Method used to create pdf</a:t>
            </a:r>
          </a:p>
        </p:txBody>
      </p:sp>
    </p:spTree>
    <p:extLst>
      <p:ext uri="{BB962C8B-B14F-4D97-AF65-F5344CB8AC3E}">
        <p14:creationId xmlns:p14="http://schemas.microsoft.com/office/powerpoint/2010/main" val="218216878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0" y="804519"/>
            <a:ext cx="9600775" cy="1049235"/>
          </a:xfrm>
        </p:spPr>
        <p:txBody>
          <a:bodyPr>
            <a:normAutofit/>
          </a:bodyPr>
          <a:lstStyle/>
          <a:p>
            <a:r>
              <a:rPr dirty="0" err="1"/>
              <a:t>Programme</a:t>
            </a:r>
            <a:r>
              <a:rPr dirty="0"/>
              <a:t> Coordinator &amp; Academic Manager (Admin Views)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200" y="2015734"/>
            <a:ext cx="4161471" cy="3450613"/>
          </a:xfrm>
        </p:spPr>
        <p:txBody>
          <a:bodyPr>
            <a:normAutofit/>
          </a:bodyPr>
          <a:lstStyle/>
          <a:p>
            <a:r>
              <a:rPr lang="en-US" sz="1800"/>
              <a:t>Separate views for each admin with appropriate buttons:</a:t>
            </a:r>
          </a:p>
          <a:p>
            <a:r>
              <a:rPr lang="en-US" sz="1800"/>
              <a:t>Coordinator: Verify / Reject pending claims; view documents inline/download</a:t>
            </a:r>
          </a:p>
          <a:p>
            <a:r>
              <a:rPr lang="en-US" sz="1800"/>
              <a:t>Manager: Approve / Reject (final step); view claim history</a:t>
            </a:r>
          </a:p>
          <a:p>
            <a:r>
              <a:rPr lang="en-US" sz="1800"/>
              <a:t>Session usage ensures actions are tied to logged-in admin and role checks prevent unauthorized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CFB1C4-E2A8-619A-F7B0-9565BA284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583" y="2218775"/>
            <a:ext cx="4959152" cy="1810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D12418-8193-1130-8D44-647C7BA82FC9}"/>
              </a:ext>
            </a:extLst>
          </p:cNvPr>
          <p:cNvSpPr txBox="1"/>
          <p:nvPr/>
        </p:nvSpPr>
        <p:spPr>
          <a:xfrm>
            <a:off x="7920990" y="4183380"/>
            <a:ext cx="2937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Forbids Coordinator from review rejected claims from Manager </a:t>
            </a:r>
          </a:p>
          <a:p>
            <a:endParaRPr lang="en-Z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0" y="804519"/>
            <a:ext cx="9600775" cy="1049235"/>
          </a:xfrm>
        </p:spPr>
        <p:txBody>
          <a:bodyPr>
            <a:normAutofit/>
          </a:bodyPr>
          <a:lstStyle/>
          <a:p>
            <a:r>
              <a:rPr lang="en-ZA" dirty="0"/>
              <a:t>Key Implementation Snippets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200" y="2015734"/>
            <a:ext cx="4161471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ZA" sz="1500"/>
              <a:t>Prefill Lecturer data: Query user table in controller when building the claim form</a:t>
            </a:r>
          </a:p>
          <a:p>
            <a:pPr>
              <a:lnSpc>
                <a:spcPct val="110000"/>
              </a:lnSpc>
            </a:pPr>
            <a:r>
              <a:rPr lang="en-ZA" sz="1500"/>
              <a:t>Auto-calculation: client-side JS or server-side computation on POST to compute amount</a:t>
            </a:r>
          </a:p>
          <a:p>
            <a:pPr>
              <a:lnSpc>
                <a:spcPct val="110000"/>
              </a:lnSpc>
            </a:pPr>
            <a:r>
              <a:rPr lang="en-ZA" sz="1500"/>
              <a:t>Upload handling: form </a:t>
            </a:r>
            <a:r>
              <a:rPr lang="en-ZA" sz="1500" err="1"/>
              <a:t>enctype</a:t>
            </a:r>
            <a:r>
              <a:rPr lang="en-ZA" sz="1500"/>
              <a:t>, server validation, file size/type checks, store encrypted blob or filesystem</a:t>
            </a:r>
          </a:p>
          <a:p>
            <a:pPr>
              <a:lnSpc>
                <a:spcPct val="110000"/>
              </a:lnSpc>
            </a:pPr>
            <a:r>
              <a:rPr lang="en-ZA" sz="1500"/>
              <a:t>PDF reports: LINQ query to collect claim data - used PDF library to generate invoice/download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28B79-A36E-5FFF-CDB4-C5021A1C5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23" y="2296688"/>
            <a:ext cx="4959152" cy="2888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52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518" y="1847088"/>
            <a:ext cx="55465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0" y="804519"/>
            <a:ext cx="5548912" cy="1049235"/>
          </a:xfrm>
        </p:spPr>
        <p:txBody>
          <a:bodyPr>
            <a:normAutofit/>
          </a:bodyPr>
          <a:lstStyle/>
          <a:p>
            <a:r>
              <a:rPr dirty="0"/>
              <a:t>Validation, Error Handling &amp; 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200" y="2015732"/>
            <a:ext cx="5548912" cy="3450613"/>
          </a:xfrm>
        </p:spPr>
        <p:txBody>
          <a:bodyPr>
            <a:normAutofit/>
          </a:bodyPr>
          <a:lstStyle/>
          <a:p>
            <a:r>
              <a:rPr dirty="0"/>
              <a:t>Model validation attributes (Required, Range) for key fields</a:t>
            </a:r>
          </a:p>
          <a:p>
            <a:r>
              <a:rPr dirty="0"/>
              <a:t>Session-based auth and role checks in controllers/filters</a:t>
            </a:r>
          </a:p>
          <a:p>
            <a:r>
              <a:rPr dirty="0"/>
              <a:t>Error handling: user-friendly messages, </a:t>
            </a:r>
            <a:r>
              <a:rPr dirty="0" err="1"/>
              <a:t>TempData</a:t>
            </a:r>
            <a:r>
              <a:rPr dirty="0"/>
              <a:t> alerts, and logs for exceptions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7C1DFF-11FF-A68F-189F-D914A6A94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222" y="481109"/>
            <a:ext cx="3572625" cy="24919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9C7DC6-3851-58B5-C377-E8D177B3A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647" y="3630792"/>
            <a:ext cx="4073775" cy="15072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D7B0-7501-95B8-8BC2-497379BD4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SQL Server Main Tables Shown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B42DD-AEF4-D02D-FFE4-C80B476AF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036" y="2013233"/>
            <a:ext cx="7388665" cy="16312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7FF8EF-DC3E-14C7-C171-E05767C4372C}"/>
              </a:ext>
            </a:extLst>
          </p:cNvPr>
          <p:cNvSpPr txBox="1"/>
          <p:nvPr/>
        </p:nvSpPr>
        <p:spPr>
          <a:xfrm>
            <a:off x="485570" y="2013233"/>
            <a:ext cx="38404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err="1"/>
              <a:t>AspNetUser</a:t>
            </a:r>
            <a:r>
              <a:rPr lang="en-ZA" dirty="0"/>
              <a:t>: </a:t>
            </a:r>
            <a:r>
              <a:rPr lang="en-ZA" dirty="0" err="1"/>
              <a:t>Lsit</a:t>
            </a:r>
            <a:r>
              <a:rPr lang="en-ZA" dirty="0"/>
              <a:t> of all Registered users, with </a:t>
            </a:r>
            <a:r>
              <a:rPr lang="en-ZA" dirty="0" err="1"/>
              <a:t>passwordhashing</a:t>
            </a:r>
            <a:r>
              <a:rPr lang="en-ZA" dirty="0"/>
              <a:t> and unique identifiers. This table is needed for the login process. It will be used to compare the stored login data to the data being inputted when logging in</a:t>
            </a:r>
          </a:p>
        </p:txBody>
      </p:sp>
      <p:pic>
        <p:nvPicPr>
          <p:cNvPr id="6" name="Content Placeholder 10">
            <a:extLst>
              <a:ext uri="{FF2B5EF4-FFF2-40B4-BE49-F238E27FC236}">
                <a16:creationId xmlns:a16="http://schemas.microsoft.com/office/drawing/2014/main" id="{FC88A7EC-6957-EC79-55E1-944431413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011" y="4144672"/>
            <a:ext cx="6970713" cy="1687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F6E9FF-0A65-D886-2B50-E462EFA558F8}"/>
              </a:ext>
            </a:extLst>
          </p:cNvPr>
          <p:cNvSpPr txBox="1"/>
          <p:nvPr/>
        </p:nvSpPr>
        <p:spPr>
          <a:xfrm>
            <a:off x="485570" y="4388452"/>
            <a:ext cx="3697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err="1"/>
              <a:t>LecturerCLaims</a:t>
            </a:r>
            <a:r>
              <a:rPr lang="en-ZA" dirty="0"/>
              <a:t>: List of all claims submitted by all lecturer users with unique identifiers. All UI retrieve data form this table </a:t>
            </a:r>
          </a:p>
        </p:txBody>
      </p:sp>
    </p:spTree>
    <p:extLst>
      <p:ext uri="{BB962C8B-B14F-4D97-AF65-F5344CB8AC3E}">
        <p14:creationId xmlns:p14="http://schemas.microsoft.com/office/powerpoint/2010/main" val="365644520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150" y="3528542"/>
            <a:ext cx="86348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52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89BE3-46BB-D63B-1BC8-38B46827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237" y="962902"/>
            <a:ext cx="4175297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4800" dirty="0"/>
              <a:t>Overview of SQL </a:t>
            </a:r>
            <a:r>
              <a:rPr lang="en-US" sz="4800" dirty="0" err="1"/>
              <a:t>Databse</a:t>
            </a:r>
            <a:r>
              <a:rPr lang="en-US" sz="4800" dirty="0"/>
              <a:t>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238" y="3528543"/>
            <a:ext cx="417039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75A1E46-283D-831F-78B9-C19D02B37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23" y="860954"/>
            <a:ext cx="4959151" cy="455002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92002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167</TotalTime>
  <Words>765</Words>
  <Application>Microsoft Office PowerPoint</Application>
  <PresentationFormat>Custom</PresentationFormat>
  <Paragraphs>69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Gill Sans MT</vt:lpstr>
      <vt:lpstr>Gallery</vt:lpstr>
      <vt:lpstr>Claims System — Part 3: Updates &amp; Key Features</vt:lpstr>
      <vt:lpstr>What you'll see</vt:lpstr>
      <vt:lpstr>Updates from Lecturer Feedback — Make it more user friendly</vt:lpstr>
      <vt:lpstr>HR (Super User) — Key Capabilities</vt:lpstr>
      <vt:lpstr>Lecturer View — Workflow &amp; UX</vt:lpstr>
      <vt:lpstr>Lecturer Panel and claims</vt:lpstr>
      <vt:lpstr>Programme Coordinator &amp; Academic Manager (Admin Views)</vt:lpstr>
      <vt:lpstr>Key Implementation Snippets (high-level)</vt:lpstr>
      <vt:lpstr>Validation, Error Handling &amp; Security</vt:lpstr>
      <vt:lpstr>SQL Server Main Tables Shown</vt:lpstr>
      <vt:lpstr>Overview of SQL Databse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Khensani Maluleke</cp:lastModifiedBy>
  <cp:revision>4</cp:revision>
  <dcterms:created xsi:type="dcterms:W3CDTF">2013-01-27T09:14:16Z</dcterms:created>
  <dcterms:modified xsi:type="dcterms:W3CDTF">2025-11-19T23:18:13Z</dcterms:modified>
  <cp:category/>
</cp:coreProperties>
</file>